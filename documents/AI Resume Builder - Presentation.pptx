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29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12.png" ContentType="image/png"/>
  <Override PartName="/ppt/media/image7.png" ContentType="image/png"/>
  <Override PartName="/ppt/media/image37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28.png" ContentType="image/png"/>
  <Override PartName="/ppt/media/image10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72A9B7-FF73-43A9-8FB7-88B8987288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1232A8-CA37-48F5-B5B0-A11C8A3885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E6D82A-E686-4E3A-AD0D-F6A912913B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127715-1F52-471D-953F-1006131B83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89C3C7-9494-40F7-8CFF-49269D1F77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32DC12-B84E-4520-A79E-CCFFD4714A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42AFAE-A021-495A-A208-CD65B99069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E7FD14-7BDC-4E59-A91B-0C81C3CF34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FF3253-64E0-48A1-BEF3-1A691D92CB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A0648B-59AB-475B-BC9B-81C6B5D92E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D75B40-693F-4566-AA9C-3367C1E2DA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3BBB45-2A94-4DF5-BE1F-DE393FF914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D1645D-FF4F-4298-BD52-2E159201838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10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/>
          <p:cNvSpPr/>
          <p:nvPr/>
        </p:nvSpPr>
        <p:spPr>
          <a:xfrm flipV="1">
            <a:off x="-169200" y="-626040"/>
            <a:ext cx="6229080" cy="6229080"/>
          </a:xfrm>
          <a:custGeom>
            <a:avLst/>
            <a:gdLst/>
            <a:ahLst/>
            <a:rect l="l" t="t" r="r" b="b"/>
            <a:pathLst>
              <a:path w="6229350" h="6229350">
                <a:moveTo>
                  <a:pt x="0" y="6229350"/>
                </a:moveTo>
                <a:lnTo>
                  <a:pt x="6229350" y="6229350"/>
                </a:lnTo>
                <a:lnTo>
                  <a:pt x="6229350" y="0"/>
                </a:lnTo>
                <a:lnTo>
                  <a:pt x="0" y="0"/>
                </a:lnTo>
                <a:lnTo>
                  <a:pt x="0" y="622935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TextBox 3"/>
          <p:cNvSpPr/>
          <p:nvPr/>
        </p:nvSpPr>
        <p:spPr>
          <a:xfrm>
            <a:off x="5137200" y="1846440"/>
            <a:ext cx="11315880" cy="48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12770"/>
              </a:lnSpc>
              <a:buNone/>
            </a:pPr>
            <a:r>
              <a:rPr b="1" lang="en-US" sz="15960" spc="-1" strike="noStrike">
                <a:solidFill>
                  <a:srgbClr val="f1f6f9"/>
                </a:solidFill>
                <a:latin typeface="Proxima Nova Heavy"/>
                <a:ea typeface="Proxima Nova Heavy"/>
              </a:rPr>
              <a:t>AI RESUME BUILDER</a:t>
            </a:r>
            <a:endParaRPr b="0" lang="en-US" sz="15960" spc="-1" strike="noStrike">
              <a:latin typeface="Arial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1867680" y="5162760"/>
            <a:ext cx="15254640" cy="48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842040" indent="-420840">
              <a:lnSpc>
                <a:spcPts val="4759"/>
              </a:lnSpc>
              <a:buClr>
                <a:srgbClr val="b4b4b4"/>
              </a:buClr>
              <a:buFont typeface="Arial"/>
              <a:buChar char="•"/>
            </a:pPr>
            <a:r>
              <a:rPr b="0" lang="en-US" sz="3900" spc="-1" strike="noStrike">
                <a:solidFill>
                  <a:srgbClr val="b4b4b4"/>
                </a:solidFill>
                <a:latin typeface="Clear Sans"/>
                <a:ea typeface="Clear Sans"/>
              </a:rPr>
              <a:t>Intern Name:</a:t>
            </a:r>
            <a:r>
              <a:rPr b="0" lang="en-US" sz="3900" spc="-1" strike="noStrike">
                <a:solidFill>
                  <a:srgbClr val="f1f6f9"/>
                </a:solidFill>
                <a:latin typeface="Clear Sans"/>
                <a:ea typeface="Clear Sans"/>
              </a:rPr>
              <a:t>              </a:t>
            </a:r>
            <a:r>
              <a:rPr b="1" lang="en-US" sz="3900" spc="-1" strike="noStrike">
                <a:solidFill>
                  <a:srgbClr val="f1f6f9"/>
                </a:solidFill>
                <a:latin typeface="Clear Sans Bold"/>
                <a:ea typeface="Clear Sans Bold"/>
              </a:rPr>
              <a:t>Dipali Brahmbhatt</a:t>
            </a:r>
            <a:endParaRPr b="0" lang="en-US" sz="3900" spc="-1" strike="noStrike">
              <a:latin typeface="Arial"/>
            </a:endParaRPr>
          </a:p>
          <a:p>
            <a:pPr lvl="1" marL="842040" indent="-420840">
              <a:lnSpc>
                <a:spcPts val="4759"/>
              </a:lnSpc>
              <a:buClr>
                <a:srgbClr val="b4b4b4"/>
              </a:buClr>
              <a:buFont typeface="Arial"/>
              <a:buChar char="•"/>
            </a:pPr>
            <a:r>
              <a:rPr b="0" lang="en-US" sz="3900" spc="-1" strike="noStrike">
                <a:solidFill>
                  <a:srgbClr val="b4b4b4"/>
                </a:solidFill>
                <a:latin typeface="Clear Sans"/>
                <a:ea typeface="Clear Sans"/>
              </a:rPr>
              <a:t>College Name:      </a:t>
            </a:r>
            <a:r>
              <a:rPr b="0" lang="en-US" sz="3900" spc="-1" strike="noStrike">
                <a:solidFill>
                  <a:srgbClr val="f1f6f9"/>
                </a:solidFill>
                <a:latin typeface="Clear Sans"/>
                <a:ea typeface="Clear Sans"/>
              </a:rPr>
              <a:t>      </a:t>
            </a:r>
            <a:r>
              <a:rPr b="1" lang="en-US" sz="3900" spc="-1" strike="noStrike">
                <a:solidFill>
                  <a:srgbClr val="f1f6f9"/>
                </a:solidFill>
                <a:latin typeface="Clear Sans Bold"/>
                <a:ea typeface="Clear Sans Bold"/>
              </a:rPr>
              <a:t>Gyanmanjary Education Mahuva (GMIU)</a:t>
            </a:r>
            <a:endParaRPr b="0" lang="en-US" sz="3900" spc="-1" strike="noStrike">
              <a:latin typeface="Arial"/>
            </a:endParaRPr>
          </a:p>
          <a:p>
            <a:pPr lvl="1" marL="842040" indent="-420840">
              <a:lnSpc>
                <a:spcPts val="4759"/>
              </a:lnSpc>
              <a:buClr>
                <a:srgbClr val="b4b4b4"/>
              </a:buClr>
              <a:buFont typeface="Arial"/>
              <a:buChar char="•"/>
            </a:pPr>
            <a:r>
              <a:rPr b="0" lang="en-US" sz="3900" spc="-1" strike="noStrike">
                <a:solidFill>
                  <a:srgbClr val="b4b4b4"/>
                </a:solidFill>
                <a:latin typeface="Clear Sans"/>
                <a:ea typeface="Clear Sans"/>
              </a:rPr>
              <a:t>Course &amp; Semester:</a:t>
            </a:r>
            <a:r>
              <a:rPr b="0" lang="en-US" sz="3900" spc="-1" strike="noStrike">
                <a:solidFill>
                  <a:srgbClr val="f1f6f9"/>
                </a:solidFill>
                <a:latin typeface="Clear Sans"/>
                <a:ea typeface="Clear Sans"/>
              </a:rPr>
              <a:t>   </a:t>
            </a:r>
            <a:r>
              <a:rPr b="1" lang="en-US" sz="3900" spc="-1" strike="noStrike">
                <a:solidFill>
                  <a:srgbClr val="f1f6f9"/>
                </a:solidFill>
                <a:latin typeface="Clear Sans Bold"/>
                <a:ea typeface="Clear Sans Bold"/>
              </a:rPr>
              <a:t>Diplo in Computer Science - 6th sem</a:t>
            </a:r>
            <a:endParaRPr b="0" lang="en-US" sz="3900" spc="-1" strike="noStrike">
              <a:latin typeface="Arial"/>
            </a:endParaRPr>
          </a:p>
          <a:p>
            <a:pPr lvl="1" marL="842040" indent="-420840">
              <a:lnSpc>
                <a:spcPts val="4759"/>
              </a:lnSpc>
              <a:buClr>
                <a:srgbClr val="b4b4b4"/>
              </a:buClr>
              <a:buFont typeface="Arial"/>
              <a:buChar char="•"/>
            </a:pPr>
            <a:r>
              <a:rPr b="0" lang="en-US" sz="3900" spc="-1" strike="noStrike">
                <a:solidFill>
                  <a:srgbClr val="b4b4b4"/>
                </a:solidFill>
                <a:latin typeface="Clear Sans"/>
                <a:ea typeface="Clear Sans"/>
              </a:rPr>
              <a:t>Internship Company:</a:t>
            </a:r>
            <a:r>
              <a:rPr b="0" lang="en-US" sz="3900" spc="-1" strike="noStrike">
                <a:solidFill>
                  <a:srgbClr val="f1f6f9"/>
                </a:solidFill>
                <a:latin typeface="Clear Sans"/>
                <a:ea typeface="Clear Sans"/>
              </a:rPr>
              <a:t> </a:t>
            </a:r>
            <a:r>
              <a:rPr b="1" lang="en-US" sz="3900" spc="-1" strike="noStrike">
                <a:solidFill>
                  <a:srgbClr val="f1f6f9"/>
                </a:solidFill>
                <a:latin typeface="Clear Sans Bold"/>
                <a:ea typeface="Clear Sans Bold"/>
              </a:rPr>
              <a:t>Majecurious</a:t>
            </a:r>
            <a:endParaRPr b="0" lang="en-US" sz="3900" spc="-1" strike="noStrike">
              <a:latin typeface="Arial"/>
            </a:endParaRPr>
          </a:p>
          <a:p>
            <a:pPr lvl="1" marL="842040" indent="-420840">
              <a:lnSpc>
                <a:spcPts val="4759"/>
              </a:lnSpc>
              <a:buClr>
                <a:srgbClr val="b4b4b4"/>
              </a:buClr>
              <a:buFont typeface="Arial"/>
              <a:buChar char="•"/>
            </a:pPr>
            <a:r>
              <a:rPr b="0" lang="en-US" sz="3900" spc="-1" strike="noStrike">
                <a:solidFill>
                  <a:srgbClr val="b4b4b4"/>
                </a:solidFill>
                <a:latin typeface="Clear Sans"/>
                <a:ea typeface="Clear Sans"/>
              </a:rPr>
              <a:t>Mentor Name:            </a:t>
            </a:r>
            <a:r>
              <a:rPr b="0" lang="en-US" sz="3900" spc="-1" strike="noStrike">
                <a:solidFill>
                  <a:srgbClr val="f1f6f9"/>
                </a:solidFill>
                <a:latin typeface="Clear Sans"/>
                <a:ea typeface="Clear Sans"/>
              </a:rPr>
              <a:t> </a:t>
            </a:r>
            <a:r>
              <a:rPr b="1" lang="en-US" sz="3900" spc="-1" strike="noStrike">
                <a:solidFill>
                  <a:srgbClr val="f1f6f9"/>
                </a:solidFill>
                <a:latin typeface="Clear Sans Bold"/>
                <a:ea typeface="Clear Sans Bold"/>
              </a:rPr>
              <a:t>Shiyal Sanjay Sir</a:t>
            </a:r>
            <a:endParaRPr b="0" lang="en-US" sz="3900" spc="-1" strike="noStrike">
              <a:latin typeface="Arial"/>
            </a:endParaRPr>
          </a:p>
          <a:p>
            <a:pPr lvl="1" marL="842040" indent="-420840">
              <a:lnSpc>
                <a:spcPts val="4759"/>
              </a:lnSpc>
              <a:buClr>
                <a:srgbClr val="b4b4b4"/>
              </a:buClr>
              <a:buFont typeface="Arial"/>
              <a:buChar char="•"/>
            </a:pPr>
            <a:r>
              <a:rPr b="0" lang="en-US" sz="3900" spc="-1" strike="noStrike">
                <a:solidFill>
                  <a:srgbClr val="b4b4b4"/>
                </a:solidFill>
                <a:latin typeface="Clear Sans"/>
                <a:ea typeface="Clear Sans"/>
              </a:rPr>
              <a:t>Faculty Guide:</a:t>
            </a:r>
            <a:r>
              <a:rPr b="0" lang="en-US" sz="3900" spc="-1" strike="noStrike">
                <a:solidFill>
                  <a:srgbClr val="f1f6f9"/>
                </a:solidFill>
                <a:latin typeface="Clear Sans"/>
                <a:ea typeface="Clear Sans"/>
              </a:rPr>
              <a:t>             </a:t>
            </a:r>
            <a:r>
              <a:rPr b="1" lang="en-US" sz="3900" spc="-1" strike="noStrike">
                <a:solidFill>
                  <a:srgbClr val="f1f6f9"/>
                </a:solidFill>
                <a:latin typeface="Clear Sans Bold"/>
                <a:ea typeface="Clear Sans Bold"/>
              </a:rPr>
              <a:t>Anil Gujariya</a:t>
            </a:r>
            <a:endParaRPr b="0" lang="en-US" sz="3900" spc="-1" strike="noStrike">
              <a:latin typeface="Arial"/>
            </a:endParaRPr>
          </a:p>
        </p:txBody>
      </p:sp>
      <p:sp>
        <p:nvSpPr>
          <p:cNvPr id="44" name="Freeform 5"/>
          <p:cNvSpPr/>
          <p:nvPr/>
        </p:nvSpPr>
        <p:spPr>
          <a:xfrm>
            <a:off x="-556560" y="7257960"/>
            <a:ext cx="4847760" cy="4114440"/>
          </a:xfrm>
          <a:custGeom>
            <a:avLst/>
            <a:gdLst/>
            <a:ahLst/>
            <a:rect l="l" t="t" r="r" b="b"/>
            <a:pathLst>
              <a:path w="4848071" h="4114800">
                <a:moveTo>
                  <a:pt x="0" y="0"/>
                </a:moveTo>
                <a:lnTo>
                  <a:pt x="4848071" y="0"/>
                </a:lnTo>
                <a:lnTo>
                  <a:pt x="484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Freeform 6"/>
          <p:cNvSpPr/>
          <p:nvPr/>
        </p:nvSpPr>
        <p:spPr>
          <a:xfrm flipH="1" flipV="1">
            <a:off x="14180400" y="-625680"/>
            <a:ext cx="4847760" cy="4114440"/>
          </a:xfrm>
          <a:custGeom>
            <a:avLst/>
            <a:gdLst/>
            <a:ahLst/>
            <a:rect l="l" t="t" r="r" b="b"/>
            <a:pathLst>
              <a:path w="4848071" h="4114800">
                <a:moveTo>
                  <a:pt x="484807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848070" y="0"/>
                </a:lnTo>
                <a:lnTo>
                  <a:pt x="4848070" y="4114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Freeform 7"/>
          <p:cNvSpPr/>
          <p:nvPr/>
        </p:nvSpPr>
        <p:spPr>
          <a:xfrm flipH="1">
            <a:off x="13338000" y="4606200"/>
            <a:ext cx="6229080" cy="6229080"/>
          </a:xfrm>
          <a:custGeom>
            <a:avLst/>
            <a:gdLst/>
            <a:ahLst/>
            <a:rect l="l" t="t" r="r" b="b"/>
            <a:pathLst>
              <a:path w="6229350" h="6229350">
                <a:moveTo>
                  <a:pt x="6229350" y="0"/>
                </a:moveTo>
                <a:lnTo>
                  <a:pt x="0" y="0"/>
                </a:lnTo>
                <a:lnTo>
                  <a:pt x="0" y="6229350"/>
                </a:lnTo>
                <a:lnTo>
                  <a:pt x="6229350" y="6229350"/>
                </a:lnTo>
                <a:lnTo>
                  <a:pt x="62293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2"/>
          <p:cNvSpPr/>
          <p:nvPr/>
        </p:nvSpPr>
        <p:spPr>
          <a:xfrm>
            <a:off x="0" y="622944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Freeform 3"/>
          <p:cNvSpPr/>
          <p:nvPr/>
        </p:nvSpPr>
        <p:spPr>
          <a:xfrm flipH="1" flipV="1">
            <a:off x="14172480" y="-5760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9" name="Group 4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50" name="Freeform 5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" name="TextBox 6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2" name="TextBox 7"/>
          <p:cNvSpPr/>
          <p:nvPr/>
        </p:nvSpPr>
        <p:spPr>
          <a:xfrm>
            <a:off x="1884960" y="3584880"/>
            <a:ext cx="1451772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77240" indent="-388800">
              <a:lnSpc>
                <a:spcPts val="50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14274e"/>
                </a:solidFill>
                <a:latin typeface="Clear Sans"/>
                <a:ea typeface="Clear Sans"/>
              </a:rPr>
              <a:t>AI Resume Builder is a full stack web application.</a:t>
            </a:r>
            <a:endParaRPr b="0" lang="en-US" sz="3600" spc="-1" strike="noStrike">
              <a:latin typeface="Arial"/>
            </a:endParaRPr>
          </a:p>
          <a:p>
            <a:pPr lvl="1" marL="777240" indent="-388800">
              <a:lnSpc>
                <a:spcPts val="50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14274e"/>
                </a:solidFill>
                <a:latin typeface="Clear Sans"/>
                <a:ea typeface="Clear Sans"/>
              </a:rPr>
              <a:t>The project helps users create professional and ATS-friendly resumes.</a:t>
            </a:r>
            <a:endParaRPr b="0" lang="en-US" sz="3600" spc="-1" strike="noStrike">
              <a:latin typeface="Arial"/>
            </a:endParaRPr>
          </a:p>
          <a:p>
            <a:pPr lvl="1" marL="777240" indent="-388800">
              <a:lnSpc>
                <a:spcPts val="50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14274e"/>
                </a:solidFill>
                <a:latin typeface="Clear Sans"/>
                <a:ea typeface="Clear Sans"/>
              </a:rPr>
              <a:t>Users can generate resume content using AI.</a:t>
            </a:r>
            <a:endParaRPr b="0" lang="en-US" sz="3600" spc="-1" strike="noStrike">
              <a:latin typeface="Arial"/>
            </a:endParaRPr>
          </a:p>
          <a:p>
            <a:pPr lvl="1" marL="777240" indent="-388800">
              <a:lnSpc>
                <a:spcPts val="50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14274e"/>
                </a:solidFill>
                <a:latin typeface="Clear Sans"/>
                <a:ea typeface="Clear Sans"/>
              </a:rPr>
              <a:t>The application provides a simple and beginner-friendly workflow.</a:t>
            </a:r>
            <a:endParaRPr b="0" lang="en-US" sz="3600" spc="-1" strike="noStrike">
              <a:latin typeface="Arial"/>
            </a:endParaRPr>
          </a:p>
          <a:p>
            <a:pPr lvl="1" marL="777240" indent="-388800">
              <a:lnSpc>
                <a:spcPts val="50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14274e"/>
                </a:solidFill>
                <a:latin typeface="Clear Sans"/>
                <a:ea typeface="Clear Sans"/>
              </a:rPr>
              <a:t>Users can edit and download resumes in PDF format.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3" name="TextBox 8"/>
          <p:cNvSpPr/>
          <p:nvPr/>
        </p:nvSpPr>
        <p:spPr>
          <a:xfrm>
            <a:off x="2057400" y="2427120"/>
            <a:ext cx="668844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Introduction</a:t>
            </a:r>
            <a:endParaRPr b="0" lang="en-US" sz="8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 2"/>
          <p:cNvSpPr/>
          <p:nvPr/>
        </p:nvSpPr>
        <p:spPr>
          <a:xfrm flipV="1">
            <a:off x="0" y="-72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0" y="4114800"/>
                </a:moveTo>
                <a:lnTo>
                  <a:pt x="3970782" y="4114800"/>
                </a:lnTo>
                <a:lnTo>
                  <a:pt x="3970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Freeform 3"/>
          <p:cNvSpPr/>
          <p:nvPr/>
        </p:nvSpPr>
        <p:spPr>
          <a:xfrm flipH="1">
            <a:off x="14316480" y="617220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3970782" y="0"/>
                </a:moveTo>
                <a:lnTo>
                  <a:pt x="0" y="0"/>
                </a:lnTo>
                <a:lnTo>
                  <a:pt x="0" y="4114800"/>
                </a:lnTo>
                <a:lnTo>
                  <a:pt x="3970782" y="4114800"/>
                </a:lnTo>
                <a:lnTo>
                  <a:pt x="3970782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6" name="Group 4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57" name="Freeform 5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" name="TextBox 6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9" name="TextBox 7"/>
          <p:cNvSpPr/>
          <p:nvPr/>
        </p:nvSpPr>
        <p:spPr>
          <a:xfrm>
            <a:off x="2638800" y="4348440"/>
            <a:ext cx="13010040" cy="48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Many students and freshers struggle with resume writing.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Users are unfamiliar with ATS-friendly resume formats.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Writing professional summaries and descriptions is difficult.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Manual resume creation is time-consuming.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Beginners often do not know proper resume structure.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60" name="TextBox 8"/>
          <p:cNvSpPr/>
          <p:nvPr/>
        </p:nvSpPr>
        <p:spPr>
          <a:xfrm>
            <a:off x="2638800" y="2888640"/>
            <a:ext cx="1142136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Problem Statement</a:t>
            </a:r>
            <a:endParaRPr b="0" lang="en-US" sz="8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 flipV="1">
            <a:off x="0" y="-57960"/>
            <a:ext cx="3657240" cy="3657240"/>
          </a:xfrm>
          <a:custGeom>
            <a:avLst/>
            <a:gdLst/>
            <a:ahLst/>
            <a:rect l="l" t="t" r="r" b="b"/>
            <a:pathLst>
              <a:path w="3657759" h="3657759">
                <a:moveTo>
                  <a:pt x="0" y="3657759"/>
                </a:moveTo>
                <a:lnTo>
                  <a:pt x="3657759" y="3657759"/>
                </a:lnTo>
                <a:lnTo>
                  <a:pt x="3657759" y="0"/>
                </a:lnTo>
                <a:lnTo>
                  <a:pt x="0" y="0"/>
                </a:lnTo>
                <a:lnTo>
                  <a:pt x="0" y="365775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Freeform 3"/>
          <p:cNvSpPr/>
          <p:nvPr/>
        </p:nvSpPr>
        <p:spPr>
          <a:xfrm flipH="1" flipV="1">
            <a:off x="13439880" y="-360"/>
            <a:ext cx="4847760" cy="4114440"/>
          </a:xfrm>
          <a:custGeom>
            <a:avLst/>
            <a:gdLst/>
            <a:ahLst/>
            <a:rect l="l" t="t" r="r" b="b"/>
            <a:pathLst>
              <a:path w="4848071" h="4114800">
                <a:moveTo>
                  <a:pt x="484807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848071" y="0"/>
                </a:lnTo>
                <a:lnTo>
                  <a:pt x="4848071" y="411480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Freeform 4"/>
          <p:cNvSpPr/>
          <p:nvPr/>
        </p:nvSpPr>
        <p:spPr>
          <a:xfrm>
            <a:off x="0" y="6172200"/>
            <a:ext cx="4847760" cy="4114440"/>
          </a:xfrm>
          <a:custGeom>
            <a:avLst/>
            <a:gdLst/>
            <a:ahLst/>
            <a:rect l="l" t="t" r="r" b="b"/>
            <a:pathLst>
              <a:path w="4848071" h="4114800">
                <a:moveTo>
                  <a:pt x="0" y="0"/>
                </a:moveTo>
                <a:lnTo>
                  <a:pt x="4848071" y="0"/>
                </a:lnTo>
                <a:lnTo>
                  <a:pt x="484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1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Freeform 5"/>
          <p:cNvSpPr/>
          <p:nvPr/>
        </p:nvSpPr>
        <p:spPr>
          <a:xfrm flipH="1">
            <a:off x="14629680" y="6629400"/>
            <a:ext cx="3657240" cy="3657240"/>
          </a:xfrm>
          <a:custGeom>
            <a:avLst/>
            <a:gdLst/>
            <a:ahLst/>
            <a:rect l="l" t="t" r="r" b="b"/>
            <a:pathLst>
              <a:path w="3657759" h="3657759">
                <a:moveTo>
                  <a:pt x="3657759" y="0"/>
                </a:moveTo>
                <a:lnTo>
                  <a:pt x="0" y="0"/>
                </a:lnTo>
                <a:lnTo>
                  <a:pt x="0" y="3657759"/>
                </a:lnTo>
                <a:lnTo>
                  <a:pt x="3657759" y="3657759"/>
                </a:lnTo>
                <a:lnTo>
                  <a:pt x="3657759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5" name="Group 6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66" name="Freeform 7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" name="TextBox 8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8" name="TextBox 9"/>
          <p:cNvSpPr/>
          <p:nvPr/>
        </p:nvSpPr>
        <p:spPr>
          <a:xfrm>
            <a:off x="2216160" y="3025800"/>
            <a:ext cx="8008560" cy="8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Objectives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2216160" y="4350240"/>
            <a:ext cx="13854960" cy="42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Build a full stack AI-powered resume builder.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Generate structured resume content using AI.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Provide editable resume sections.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Allow users to preview and download resumes.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Learn frontend, backend, database, and AI integration concepts.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reeform 2"/>
          <p:cNvSpPr/>
          <p:nvPr/>
        </p:nvSpPr>
        <p:spPr>
          <a:xfrm>
            <a:off x="0" y="622944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Freeform 3"/>
          <p:cNvSpPr/>
          <p:nvPr/>
        </p:nvSpPr>
        <p:spPr>
          <a:xfrm flipH="1" flipV="1">
            <a:off x="14172480" y="-5760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2" name="Group 4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73" name="Freeform 5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TextBox 6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5" name="TextBox 7"/>
          <p:cNvSpPr/>
          <p:nvPr/>
        </p:nvSpPr>
        <p:spPr>
          <a:xfrm>
            <a:off x="4636080" y="2257560"/>
            <a:ext cx="901512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Technology Stack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4114800" y="3755160"/>
            <a:ext cx="6862320" cy="42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759"/>
              </a:lnSpc>
              <a:buNone/>
            </a:pPr>
            <a:r>
              <a:rPr b="1" lang="en-US" sz="340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Frontend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React.js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Tailwind CSS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r>
              <a:rPr b="1" lang="en-US" sz="340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Backend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Node.js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Express.js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9042480" y="3755160"/>
            <a:ext cx="6862320" cy="30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759"/>
              </a:lnSpc>
              <a:buNone/>
            </a:pPr>
            <a:r>
              <a:rPr b="1" lang="en-US" sz="340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Database &amp; Authentication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Supabase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r>
              <a:rPr b="1" lang="en-US" sz="340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AI Integration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Google Gemini API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2"/>
          <p:cNvSpPr/>
          <p:nvPr/>
        </p:nvSpPr>
        <p:spPr>
          <a:xfrm flipH="1">
            <a:off x="14316480" y="617220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3970782" y="0"/>
                </a:moveTo>
                <a:lnTo>
                  <a:pt x="0" y="0"/>
                </a:lnTo>
                <a:lnTo>
                  <a:pt x="0" y="4114800"/>
                </a:lnTo>
                <a:lnTo>
                  <a:pt x="3970782" y="4114800"/>
                </a:lnTo>
                <a:lnTo>
                  <a:pt x="3970782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Freeform 3"/>
          <p:cNvSpPr/>
          <p:nvPr/>
        </p:nvSpPr>
        <p:spPr>
          <a:xfrm flipV="1">
            <a:off x="0" y="-72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0" y="4114800"/>
                </a:moveTo>
                <a:lnTo>
                  <a:pt x="3970782" y="4114800"/>
                </a:lnTo>
                <a:lnTo>
                  <a:pt x="3970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0" name="Group 4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81" name="Freeform 5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TextBox 6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3" name="TextBox 7"/>
          <p:cNvSpPr/>
          <p:nvPr/>
        </p:nvSpPr>
        <p:spPr>
          <a:xfrm>
            <a:off x="5897160" y="2180880"/>
            <a:ext cx="649332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System Flow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3452400" y="3589200"/>
            <a:ext cx="11382480" cy="42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StarSymbol"/>
              <a:buAutoNum type="arabicPeriod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User logs in or signs up.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StarSymbol"/>
              <a:buAutoNum type="arabicPeriod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User creates a new resume.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StarSymbol"/>
              <a:buAutoNum type="arabicPeriod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User enters complete details in a single prompt.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StarSymbol"/>
              <a:buAutoNum type="arabicPeriod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AI processes the input.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StarSymbol"/>
              <a:buAutoNum type="arabicPeriod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Structured resume is generated.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StarSymbol"/>
              <a:buAutoNum type="arabicPeriod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User edits the resume.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StarSymbol"/>
              <a:buAutoNum type="arabicPeriod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User previews and downloads PDF.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2"/>
          <p:cNvSpPr/>
          <p:nvPr/>
        </p:nvSpPr>
        <p:spPr>
          <a:xfrm>
            <a:off x="0" y="6172200"/>
            <a:ext cx="4847760" cy="4114440"/>
          </a:xfrm>
          <a:custGeom>
            <a:avLst/>
            <a:gdLst/>
            <a:ahLst/>
            <a:rect l="l" t="t" r="r" b="b"/>
            <a:pathLst>
              <a:path w="4848071" h="4114800">
                <a:moveTo>
                  <a:pt x="0" y="0"/>
                </a:moveTo>
                <a:lnTo>
                  <a:pt x="4848071" y="0"/>
                </a:lnTo>
                <a:lnTo>
                  <a:pt x="484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1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Freeform 3"/>
          <p:cNvSpPr/>
          <p:nvPr/>
        </p:nvSpPr>
        <p:spPr>
          <a:xfrm flipH="1">
            <a:off x="14629680" y="6629400"/>
            <a:ext cx="3657240" cy="3657240"/>
          </a:xfrm>
          <a:custGeom>
            <a:avLst/>
            <a:gdLst/>
            <a:ahLst/>
            <a:rect l="l" t="t" r="r" b="b"/>
            <a:pathLst>
              <a:path w="3657759" h="3657759">
                <a:moveTo>
                  <a:pt x="3657759" y="0"/>
                </a:moveTo>
                <a:lnTo>
                  <a:pt x="0" y="0"/>
                </a:lnTo>
                <a:lnTo>
                  <a:pt x="0" y="3657759"/>
                </a:lnTo>
                <a:lnTo>
                  <a:pt x="3657759" y="3657759"/>
                </a:lnTo>
                <a:lnTo>
                  <a:pt x="3657759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Freeform 4"/>
          <p:cNvSpPr/>
          <p:nvPr/>
        </p:nvSpPr>
        <p:spPr>
          <a:xfrm flipH="1" flipV="1">
            <a:off x="13439880" y="-360"/>
            <a:ext cx="4847760" cy="4114440"/>
          </a:xfrm>
          <a:custGeom>
            <a:avLst/>
            <a:gdLst/>
            <a:ahLst/>
            <a:rect l="l" t="t" r="r" b="b"/>
            <a:pathLst>
              <a:path w="4848071" h="4114800">
                <a:moveTo>
                  <a:pt x="484807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848071" y="0"/>
                </a:lnTo>
                <a:lnTo>
                  <a:pt x="4848071" y="411480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Freeform 5"/>
          <p:cNvSpPr/>
          <p:nvPr/>
        </p:nvSpPr>
        <p:spPr>
          <a:xfrm flipV="1">
            <a:off x="0" y="-57960"/>
            <a:ext cx="3657240" cy="3657240"/>
          </a:xfrm>
          <a:custGeom>
            <a:avLst/>
            <a:gdLst/>
            <a:ahLst/>
            <a:rect l="l" t="t" r="r" b="b"/>
            <a:pathLst>
              <a:path w="3657759" h="3657759">
                <a:moveTo>
                  <a:pt x="0" y="3657759"/>
                </a:moveTo>
                <a:lnTo>
                  <a:pt x="3657759" y="3657759"/>
                </a:lnTo>
                <a:lnTo>
                  <a:pt x="3657759" y="0"/>
                </a:lnTo>
                <a:lnTo>
                  <a:pt x="0" y="0"/>
                </a:lnTo>
                <a:lnTo>
                  <a:pt x="0" y="3657759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9" name="Group 6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90" name="Freeform 7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TextBox 8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2" name="TextBox 9"/>
          <p:cNvSpPr/>
          <p:nvPr/>
        </p:nvSpPr>
        <p:spPr>
          <a:xfrm>
            <a:off x="5139360" y="1913760"/>
            <a:ext cx="800856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System Architecture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3432960" y="4048200"/>
            <a:ext cx="11421360" cy="42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React Frontend</a:t>
            </a:r>
            <a:endParaRPr b="0" lang="en-US" sz="3400" spc="-1" strike="noStrike">
              <a:latin typeface="Arial"/>
            </a:endParaRPr>
          </a:p>
          <a:p>
            <a:pPr algn="ctr"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↓ </a:t>
            </a:r>
            <a:endParaRPr b="0" lang="en-US" sz="3400" spc="-1" strike="noStrike">
              <a:latin typeface="Arial"/>
            </a:endParaRPr>
          </a:p>
          <a:p>
            <a:pPr algn="ctr"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Supabase Database &amp; Authentication</a:t>
            </a:r>
            <a:endParaRPr b="0" lang="en-US" sz="3400" spc="-1" strike="noStrike">
              <a:latin typeface="Arial"/>
            </a:endParaRPr>
          </a:p>
          <a:p>
            <a:pPr algn="ctr"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↓</a:t>
            </a:r>
            <a:endParaRPr b="0" lang="en-US" sz="3400" spc="-1" strike="noStrike">
              <a:latin typeface="Arial"/>
            </a:endParaRPr>
          </a:p>
          <a:p>
            <a:pPr algn="ctr"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Node.js + Express Backend</a:t>
            </a:r>
            <a:endParaRPr b="0" lang="en-US" sz="3400" spc="-1" strike="noStrike">
              <a:latin typeface="Arial"/>
            </a:endParaRPr>
          </a:p>
          <a:p>
            <a:pPr algn="ctr"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↓</a:t>
            </a:r>
            <a:endParaRPr b="0" lang="en-US" sz="3400" spc="-1" strike="noStrike">
              <a:latin typeface="Arial"/>
            </a:endParaRPr>
          </a:p>
          <a:p>
            <a:pPr algn="ctr"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Google Gemini API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 flipH="1" flipV="1">
            <a:off x="14172480" y="-5760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Freeform 3"/>
          <p:cNvSpPr/>
          <p:nvPr/>
        </p:nvSpPr>
        <p:spPr>
          <a:xfrm>
            <a:off x="0" y="622944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6" name="Group 4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97" name="Freeform 5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TextBox 6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9" name="TextBox 7"/>
          <p:cNvSpPr/>
          <p:nvPr/>
        </p:nvSpPr>
        <p:spPr>
          <a:xfrm>
            <a:off x="5814720" y="2620440"/>
            <a:ext cx="665856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Key Features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5995440" y="3805560"/>
            <a:ext cx="6296760" cy="60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User Authentication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AI Resume Generation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Editable Resume Sections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Resume Preview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Multiple Resume Templates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PDF Download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Responsive UI Design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reeform 2"/>
          <p:cNvSpPr/>
          <p:nvPr/>
        </p:nvSpPr>
        <p:spPr>
          <a:xfrm flipH="1">
            <a:off x="14316480" y="617220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3970782" y="0"/>
                </a:moveTo>
                <a:lnTo>
                  <a:pt x="0" y="0"/>
                </a:lnTo>
                <a:lnTo>
                  <a:pt x="0" y="4114800"/>
                </a:lnTo>
                <a:lnTo>
                  <a:pt x="3970782" y="4114800"/>
                </a:lnTo>
                <a:lnTo>
                  <a:pt x="3970782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Freeform 3"/>
          <p:cNvSpPr/>
          <p:nvPr/>
        </p:nvSpPr>
        <p:spPr>
          <a:xfrm flipV="1">
            <a:off x="0" y="-72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0" y="4114800"/>
                </a:moveTo>
                <a:lnTo>
                  <a:pt x="3970782" y="4114800"/>
                </a:lnTo>
                <a:lnTo>
                  <a:pt x="3970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3" name="Group 4"/>
          <p:cNvGrpSpPr/>
          <p:nvPr/>
        </p:nvGrpSpPr>
        <p:grpSpPr>
          <a:xfrm>
            <a:off x="763560" y="884160"/>
            <a:ext cx="16230240" cy="8335440"/>
            <a:chOff x="763560" y="884160"/>
            <a:chExt cx="16230240" cy="8335440"/>
          </a:xfrm>
        </p:grpSpPr>
        <p:sp>
          <p:nvSpPr>
            <p:cNvPr id="104" name="Freeform 5"/>
            <p:cNvSpPr/>
            <p:nvPr/>
          </p:nvSpPr>
          <p:spPr>
            <a:xfrm>
              <a:off x="763560" y="102888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TextBox 6"/>
            <p:cNvSpPr/>
            <p:nvPr/>
          </p:nvSpPr>
          <p:spPr>
            <a:xfrm>
              <a:off x="763560" y="88416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6" name="TextBox 7"/>
          <p:cNvSpPr/>
          <p:nvPr/>
        </p:nvSpPr>
        <p:spPr>
          <a:xfrm>
            <a:off x="4830120" y="2212920"/>
            <a:ext cx="862704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Database Design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3836880" y="4005360"/>
            <a:ext cx="312732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5338"/>
              </a:lnSpc>
              <a:buNone/>
            </a:pPr>
            <a:r>
              <a:rPr b="1" lang="en-US" sz="382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Profiles Table</a:t>
            </a:r>
            <a:endParaRPr b="0" lang="en-US" sz="3820" spc="-1" strike="noStrike">
              <a:latin typeface="Arial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10183320" y="3800880"/>
            <a:ext cx="342468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5338"/>
              </a:lnSpc>
              <a:buNone/>
            </a:pPr>
            <a:r>
              <a:rPr b="1" lang="en-US" sz="382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Resumes Table</a:t>
            </a:r>
            <a:endParaRPr b="0" lang="en-US" sz="3820" spc="-1" strike="noStrike">
              <a:latin typeface="Arial"/>
            </a:endParaRPr>
          </a:p>
        </p:txBody>
      </p:sp>
      <p:sp>
        <p:nvSpPr>
          <p:cNvPr id="109" name="TextBox 10"/>
          <p:cNvSpPr/>
          <p:nvPr/>
        </p:nvSpPr>
        <p:spPr>
          <a:xfrm>
            <a:off x="3735720" y="4804560"/>
            <a:ext cx="2293200" cy="27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id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name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email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created_at</a:t>
            </a:r>
            <a:endParaRPr b="0" lang="en-US" sz="2600" spc="-1" strike="noStrike">
              <a:latin typeface="Arial"/>
            </a:endParaRPr>
          </a:p>
          <a:p>
            <a:pPr>
              <a:lnSpc>
                <a:spcPts val="364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8955000" y="4600080"/>
            <a:ext cx="2848680" cy="32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id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user_id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title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raw_input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personal_info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summary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experience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12086280" y="4600080"/>
            <a:ext cx="2848680" cy="369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education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skills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projects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template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ai_generated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created_at</a:t>
            </a:r>
            <a:endParaRPr b="0" lang="en-US" sz="2600" spc="-1" strike="noStrike">
              <a:latin typeface="Arial"/>
            </a:endParaRPr>
          </a:p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updated_a</a:t>
            </a:r>
            <a:endParaRPr b="0" lang="en-US" sz="2600" spc="-1" strike="noStrike">
              <a:latin typeface="Arial"/>
            </a:endParaRPr>
          </a:p>
          <a:p>
            <a:pPr>
              <a:lnSpc>
                <a:spcPts val="364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reeform 2"/>
          <p:cNvSpPr/>
          <p:nvPr/>
        </p:nvSpPr>
        <p:spPr>
          <a:xfrm flipH="1">
            <a:off x="14316480" y="617220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3970782" y="0"/>
                </a:moveTo>
                <a:lnTo>
                  <a:pt x="0" y="0"/>
                </a:lnTo>
                <a:lnTo>
                  <a:pt x="0" y="4114800"/>
                </a:lnTo>
                <a:lnTo>
                  <a:pt x="3970782" y="4114800"/>
                </a:lnTo>
                <a:lnTo>
                  <a:pt x="3970782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Freeform 3"/>
          <p:cNvSpPr/>
          <p:nvPr/>
        </p:nvSpPr>
        <p:spPr>
          <a:xfrm flipV="1">
            <a:off x="0" y="-72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0" y="4114800"/>
                </a:moveTo>
                <a:lnTo>
                  <a:pt x="3970782" y="4114800"/>
                </a:lnTo>
                <a:lnTo>
                  <a:pt x="3970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Group 4"/>
          <p:cNvGrpSpPr/>
          <p:nvPr/>
        </p:nvGrpSpPr>
        <p:grpSpPr>
          <a:xfrm>
            <a:off x="763560" y="884160"/>
            <a:ext cx="16230240" cy="8335440"/>
            <a:chOff x="763560" y="884160"/>
            <a:chExt cx="16230240" cy="8335440"/>
          </a:xfrm>
        </p:grpSpPr>
        <p:sp>
          <p:nvSpPr>
            <p:cNvPr id="115" name="Freeform 5"/>
            <p:cNvSpPr/>
            <p:nvPr/>
          </p:nvSpPr>
          <p:spPr>
            <a:xfrm>
              <a:off x="763560" y="102888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TextBox 6"/>
            <p:cNvSpPr/>
            <p:nvPr/>
          </p:nvSpPr>
          <p:spPr>
            <a:xfrm>
              <a:off x="763560" y="88416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7" name="TextBox 7"/>
          <p:cNvSpPr/>
          <p:nvPr/>
        </p:nvSpPr>
        <p:spPr>
          <a:xfrm>
            <a:off x="5392080" y="1917720"/>
            <a:ext cx="697356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API Overview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2306520" y="3406680"/>
            <a:ext cx="3871800" cy="15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6094"/>
              </a:lnSpc>
              <a:buNone/>
            </a:pPr>
            <a:r>
              <a:rPr b="1" lang="en-US" sz="435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Authentication</a:t>
            </a:r>
            <a:endParaRPr b="0" lang="en-US" sz="4350" spc="-1" strike="noStrike">
              <a:latin typeface="Arial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2306520" y="5574600"/>
            <a:ext cx="528012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5338"/>
              </a:lnSpc>
              <a:buNone/>
            </a:pPr>
            <a:r>
              <a:rPr b="1" lang="en-US" sz="382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AI Resume Parsing API</a:t>
            </a:r>
            <a:endParaRPr b="0" lang="en-US" sz="3820" spc="-1" strike="noStrike"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2406600" y="4272120"/>
            <a:ext cx="692568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Supabase Auth used for login and signup.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1" name="TextBox 11"/>
          <p:cNvSpPr/>
          <p:nvPr/>
        </p:nvSpPr>
        <p:spPr>
          <a:xfrm>
            <a:off x="2406600" y="6442920"/>
            <a:ext cx="595368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640"/>
              </a:lnSpc>
              <a:buNone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POST: https://ai-resume-builder-16vp.onrender.com/parse-resume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2" name="TextBox 12"/>
          <p:cNvSpPr/>
          <p:nvPr/>
        </p:nvSpPr>
        <p:spPr>
          <a:xfrm>
            <a:off x="9172800" y="5531040"/>
            <a:ext cx="3593160" cy="14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5655"/>
              </a:lnSpc>
              <a:buNone/>
            </a:pPr>
            <a:r>
              <a:rPr b="1" lang="en-US" sz="404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Resume CRUD</a:t>
            </a:r>
            <a:endParaRPr b="0" lang="en-US" sz="4040" spc="-1" strike="noStrike">
              <a:latin typeface="Arial"/>
            </a:endParaRPr>
          </a:p>
        </p:txBody>
      </p:sp>
      <p:sp>
        <p:nvSpPr>
          <p:cNvPr id="123" name="TextBox 13"/>
          <p:cNvSpPr/>
          <p:nvPr/>
        </p:nvSpPr>
        <p:spPr>
          <a:xfrm>
            <a:off x="9332280" y="6343560"/>
            <a:ext cx="649620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1240" indent="-280800">
              <a:lnSpc>
                <a:spcPts val="3640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4274e"/>
                </a:solidFill>
                <a:latin typeface="Clear Sans"/>
                <a:ea typeface="Clear Sans"/>
              </a:rPr>
              <a:t>Managed using Supabase client library.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2"/>
          <p:cNvSpPr/>
          <p:nvPr/>
        </p:nvSpPr>
        <p:spPr>
          <a:xfrm flipH="1">
            <a:off x="14316480" y="617220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3970782" y="0"/>
                </a:moveTo>
                <a:lnTo>
                  <a:pt x="0" y="0"/>
                </a:lnTo>
                <a:lnTo>
                  <a:pt x="0" y="4114800"/>
                </a:lnTo>
                <a:lnTo>
                  <a:pt x="3970782" y="4114800"/>
                </a:lnTo>
                <a:lnTo>
                  <a:pt x="3970782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Freeform 3"/>
          <p:cNvSpPr/>
          <p:nvPr/>
        </p:nvSpPr>
        <p:spPr>
          <a:xfrm flipV="1">
            <a:off x="0" y="-72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0" y="4114800"/>
                </a:moveTo>
                <a:lnTo>
                  <a:pt x="3970782" y="4114800"/>
                </a:lnTo>
                <a:lnTo>
                  <a:pt x="3970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26" name="Group 4"/>
          <p:cNvGrpSpPr/>
          <p:nvPr/>
        </p:nvGrpSpPr>
        <p:grpSpPr>
          <a:xfrm>
            <a:off x="763560" y="884160"/>
            <a:ext cx="16230240" cy="8335440"/>
            <a:chOff x="763560" y="884160"/>
            <a:chExt cx="16230240" cy="8335440"/>
          </a:xfrm>
        </p:grpSpPr>
        <p:sp>
          <p:nvSpPr>
            <p:cNvPr id="127" name="Freeform 5"/>
            <p:cNvSpPr/>
            <p:nvPr/>
          </p:nvSpPr>
          <p:spPr>
            <a:xfrm>
              <a:off x="763560" y="102888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TextBox 6"/>
            <p:cNvSpPr/>
            <p:nvPr/>
          </p:nvSpPr>
          <p:spPr>
            <a:xfrm>
              <a:off x="763560" y="88416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9" name="TextBox 7"/>
          <p:cNvSpPr/>
          <p:nvPr/>
        </p:nvSpPr>
        <p:spPr>
          <a:xfrm>
            <a:off x="5611320" y="2094480"/>
            <a:ext cx="706536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AI Integration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4816440" y="3435120"/>
            <a:ext cx="8654760" cy="45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Google Gemini API is used for AI processing.</a:t>
            </a:r>
            <a:endParaRPr b="0" lang="en-US" sz="287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User enters resume details in one paragraph.</a:t>
            </a:r>
            <a:endParaRPr b="0" lang="en-US" sz="287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Backend sends data to Gemini API.</a:t>
            </a:r>
            <a:endParaRPr b="0" lang="en-US" sz="287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AI generates structured resume content.</a:t>
            </a:r>
            <a:endParaRPr b="0" lang="en-US" sz="2870" spc="-1" strike="noStrike">
              <a:latin typeface="Arial"/>
            </a:endParaRPr>
          </a:p>
          <a:p>
            <a:pPr>
              <a:lnSpc>
                <a:spcPts val="4022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1" lang="en-US" sz="287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Generated content includes:</a:t>
            </a:r>
            <a:endParaRPr b="0" lang="en-US" sz="2870" spc="-1" strike="noStrike">
              <a:latin typeface="Arial"/>
            </a:endParaRPr>
          </a:p>
          <a:p>
            <a:pPr>
              <a:lnSpc>
                <a:spcPts val="4022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5895000" y="6584400"/>
            <a:ext cx="2983320" cy="19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87880" indent="-294120">
              <a:lnSpc>
                <a:spcPts val="3813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720" spc="-1" strike="noStrike">
                <a:solidFill>
                  <a:srgbClr val="14274e"/>
                </a:solidFill>
                <a:latin typeface="Clear Sans"/>
                <a:ea typeface="Clear Sans"/>
              </a:rPr>
              <a:t>Summary</a:t>
            </a:r>
            <a:endParaRPr b="0" lang="en-US" sz="2720" spc="-1" strike="noStrike">
              <a:latin typeface="Arial"/>
            </a:endParaRPr>
          </a:p>
          <a:p>
            <a:pPr lvl="1" marL="587880" indent="-294120">
              <a:lnSpc>
                <a:spcPts val="3813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720" spc="-1" strike="noStrike">
                <a:solidFill>
                  <a:srgbClr val="14274e"/>
                </a:solidFill>
                <a:latin typeface="Clear Sans"/>
                <a:ea typeface="Clear Sans"/>
              </a:rPr>
              <a:t>Skills</a:t>
            </a:r>
            <a:endParaRPr b="0" lang="en-US" sz="2720" spc="-1" strike="noStrike">
              <a:latin typeface="Arial"/>
            </a:endParaRPr>
          </a:p>
          <a:p>
            <a:pPr lvl="1" marL="587880" indent="-294120">
              <a:lnSpc>
                <a:spcPts val="3813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720" spc="-1" strike="noStrike">
                <a:solidFill>
                  <a:srgbClr val="14274e"/>
                </a:solidFill>
                <a:latin typeface="Clear Sans"/>
                <a:ea typeface="Clear Sans"/>
              </a:rPr>
              <a:t>Education</a:t>
            </a:r>
            <a:endParaRPr b="0" lang="en-US" sz="2720" spc="-1" strike="noStrike">
              <a:latin typeface="Arial"/>
            </a:endParaRPr>
          </a:p>
          <a:p>
            <a:pPr lvl="1" marL="587880" indent="-294120">
              <a:lnSpc>
                <a:spcPts val="3813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720" spc="-1" strike="noStrike">
                <a:solidFill>
                  <a:srgbClr val="14274e"/>
                </a:solidFill>
                <a:latin typeface="Clear Sans"/>
                <a:ea typeface="Clear Sans"/>
              </a:rPr>
              <a:t>Experience</a:t>
            </a:r>
            <a:endParaRPr b="0" lang="en-US" sz="27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2"/>
          <p:cNvSpPr/>
          <p:nvPr/>
        </p:nvSpPr>
        <p:spPr>
          <a:xfrm flipH="1">
            <a:off x="14316480" y="617220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3970782" y="0"/>
                </a:moveTo>
                <a:lnTo>
                  <a:pt x="0" y="0"/>
                </a:lnTo>
                <a:lnTo>
                  <a:pt x="0" y="4114800"/>
                </a:lnTo>
                <a:lnTo>
                  <a:pt x="3970782" y="4114800"/>
                </a:lnTo>
                <a:lnTo>
                  <a:pt x="3970782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Freeform 3"/>
          <p:cNvSpPr/>
          <p:nvPr/>
        </p:nvSpPr>
        <p:spPr>
          <a:xfrm flipV="1">
            <a:off x="0" y="-720"/>
            <a:ext cx="3970440" cy="4114440"/>
          </a:xfrm>
          <a:custGeom>
            <a:avLst/>
            <a:gdLst/>
            <a:ahLst/>
            <a:rect l="l" t="t" r="r" b="b"/>
            <a:pathLst>
              <a:path w="3970782" h="4114800">
                <a:moveTo>
                  <a:pt x="0" y="4114800"/>
                </a:moveTo>
                <a:lnTo>
                  <a:pt x="3970782" y="4114800"/>
                </a:lnTo>
                <a:lnTo>
                  <a:pt x="3970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34" name="Group 4"/>
          <p:cNvGrpSpPr/>
          <p:nvPr/>
        </p:nvGrpSpPr>
        <p:grpSpPr>
          <a:xfrm>
            <a:off x="763560" y="884160"/>
            <a:ext cx="16230240" cy="8335440"/>
            <a:chOff x="763560" y="884160"/>
            <a:chExt cx="16230240" cy="8335440"/>
          </a:xfrm>
        </p:grpSpPr>
        <p:sp>
          <p:nvSpPr>
            <p:cNvPr id="135" name="Freeform 5"/>
            <p:cNvSpPr/>
            <p:nvPr/>
          </p:nvSpPr>
          <p:spPr>
            <a:xfrm>
              <a:off x="763560" y="102888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TextBox 6"/>
            <p:cNvSpPr/>
            <p:nvPr/>
          </p:nvSpPr>
          <p:spPr>
            <a:xfrm>
              <a:off x="763560" y="88416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7" name="TextBox 7"/>
          <p:cNvSpPr/>
          <p:nvPr/>
        </p:nvSpPr>
        <p:spPr>
          <a:xfrm>
            <a:off x="7056360" y="2390760"/>
            <a:ext cx="379620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Testing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3737160" y="3725640"/>
            <a:ext cx="10283040" cy="40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The project was tested manually using live usage testing.</a:t>
            </a:r>
            <a:endParaRPr b="0" lang="en-US" sz="287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Testing Included:</a:t>
            </a:r>
            <a:endParaRPr b="0" lang="en-US" sz="287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Authentication Testing</a:t>
            </a:r>
            <a:endParaRPr b="0" lang="en-US" sz="287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Resume Generation Testing</a:t>
            </a:r>
            <a:endParaRPr b="0" lang="en-US" sz="287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Responsive UI Testing</a:t>
            </a:r>
            <a:endParaRPr b="0" lang="en-US" sz="287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PDF Download Testing</a:t>
            </a:r>
            <a:endParaRPr b="0" lang="en-US" sz="2870" spc="-1" strike="noStrike">
              <a:latin typeface="Arial"/>
            </a:endParaRPr>
          </a:p>
          <a:p>
            <a:pPr lvl="1" marL="620280" indent="-309960">
              <a:lnSpc>
                <a:spcPts val="4022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2870" spc="-1" strike="noStrike">
                <a:solidFill>
                  <a:srgbClr val="14274e"/>
                </a:solidFill>
                <a:latin typeface="Clear Sans"/>
                <a:ea typeface="Clear Sans"/>
              </a:rPr>
              <a:t>CRUD Operation Testing</a:t>
            </a:r>
            <a:endParaRPr b="0" lang="en-US" sz="287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Freeform 2"/>
          <p:cNvSpPr/>
          <p:nvPr/>
        </p:nvSpPr>
        <p:spPr>
          <a:xfrm>
            <a:off x="0" y="622944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Freeform 3"/>
          <p:cNvSpPr/>
          <p:nvPr/>
        </p:nvSpPr>
        <p:spPr>
          <a:xfrm flipH="1" flipV="1">
            <a:off x="14172480" y="-5760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1" name="Group 4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142" name="Freeform 5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TextBox 6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4" name="TextBox 7"/>
          <p:cNvSpPr/>
          <p:nvPr/>
        </p:nvSpPr>
        <p:spPr>
          <a:xfrm>
            <a:off x="6037200" y="2257560"/>
            <a:ext cx="621324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Deployment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4114800" y="3945600"/>
            <a:ext cx="6862320" cy="36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759"/>
              </a:lnSpc>
              <a:buNone/>
            </a:pPr>
            <a:r>
              <a:rPr b="1" lang="en-US" sz="340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Frontend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Netlify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r>
              <a:rPr b="1" lang="en-US" sz="340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Backend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Render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9042480" y="3945600"/>
            <a:ext cx="6862320" cy="36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759"/>
              </a:lnSpc>
              <a:buNone/>
            </a:pPr>
            <a:r>
              <a:rPr b="1" lang="en-US" sz="340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Database &amp; Authentication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Supabase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r>
              <a:rPr b="1" lang="en-US" sz="3400" spc="-1" strike="noStrike">
                <a:solidFill>
                  <a:srgbClr val="14274e"/>
                </a:solidFill>
                <a:latin typeface="Clear Sans Bold"/>
                <a:ea typeface="Clear Sans Bold"/>
              </a:rPr>
              <a:t>Live Demo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 </a:t>
            </a:r>
            <a:r>
              <a:rPr b="0" lang="en-US" sz="3400" spc="-1" strike="noStrike" u="sng">
                <a:solidFill>
                  <a:srgbClr val="5170ff"/>
                </a:solidFill>
                <a:uFillTx/>
                <a:latin typeface="Clear Sans"/>
                <a:ea typeface="Clear Sans"/>
              </a:rPr>
              <a:t>ai-resume-bolt.netlify.app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reeform 2"/>
          <p:cNvSpPr/>
          <p:nvPr/>
        </p:nvSpPr>
        <p:spPr>
          <a:xfrm flipH="1" flipV="1">
            <a:off x="14172480" y="-5760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Freeform 3"/>
          <p:cNvSpPr/>
          <p:nvPr/>
        </p:nvSpPr>
        <p:spPr>
          <a:xfrm>
            <a:off x="0" y="622944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9" name="Group 4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150" name="Freeform 5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TextBox 6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2" name="TextBox 7"/>
          <p:cNvSpPr/>
          <p:nvPr/>
        </p:nvSpPr>
        <p:spPr>
          <a:xfrm>
            <a:off x="2999880" y="2823480"/>
            <a:ext cx="983952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Future Enhancements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3445560" y="4816440"/>
            <a:ext cx="6296760" cy="36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More resume templates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Resume score analysis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Cover letter generation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Export in multiple formats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reeform 2"/>
          <p:cNvSpPr/>
          <p:nvPr/>
        </p:nvSpPr>
        <p:spPr>
          <a:xfrm flipH="1" flipV="1">
            <a:off x="14172480" y="-5760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Freeform 3"/>
          <p:cNvSpPr/>
          <p:nvPr/>
        </p:nvSpPr>
        <p:spPr>
          <a:xfrm>
            <a:off x="0" y="6229440"/>
            <a:ext cx="4114440" cy="4114440"/>
          </a:xfrm>
          <a:custGeom>
            <a:avLst/>
            <a:gdLst/>
            <a:ah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6" name="Group 4"/>
          <p:cNvGrpSpPr/>
          <p:nvPr/>
        </p:nvGrpSpPr>
        <p:grpSpPr>
          <a:xfrm>
            <a:off x="1028880" y="922680"/>
            <a:ext cx="16230240" cy="8335440"/>
            <a:chOff x="1028880" y="922680"/>
            <a:chExt cx="16230240" cy="8335440"/>
          </a:xfrm>
        </p:grpSpPr>
        <p:sp>
          <p:nvSpPr>
            <p:cNvPr id="157" name="Freeform 5"/>
            <p:cNvSpPr/>
            <p:nvPr/>
          </p:nvSpPr>
          <p:spPr>
            <a:xfrm>
              <a:off x="1028880" y="1067400"/>
              <a:ext cx="16230240" cy="8190720"/>
            </a:xfrm>
            <a:custGeom>
              <a:avLst/>
              <a:gdLst/>
              <a:ahLst/>
              <a:rect l="l" t="t" r="r" b="b"/>
              <a:pathLst>
                <a:path w="4274726" h="21572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32968"/>
                  </a:lnTo>
                  <a:cubicBezTo>
                    <a:pt x="4274726" y="2146404"/>
                    <a:pt x="4263834" y="2157295"/>
                    <a:pt x="4250399" y="2157295"/>
                  </a:cubicBezTo>
                  <a:lnTo>
                    <a:pt x="24327" y="2157295"/>
                  </a:lnTo>
                  <a:cubicBezTo>
                    <a:pt x="17875" y="2157295"/>
                    <a:pt x="11687" y="2154732"/>
                    <a:pt x="7125" y="2150170"/>
                  </a:cubicBezTo>
                  <a:cubicBezTo>
                    <a:pt x="2563" y="2145608"/>
                    <a:pt x="0" y="2139420"/>
                    <a:pt x="0" y="21329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1f6f9"/>
            </a:solidFill>
            <a:ln cap="rnd" w="133350">
              <a:solidFill>
                <a:srgbClr val="3948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TextBox 6"/>
            <p:cNvSpPr/>
            <p:nvPr/>
          </p:nvSpPr>
          <p:spPr>
            <a:xfrm>
              <a:off x="1028880" y="922680"/>
              <a:ext cx="16230240" cy="833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9" name="TextBox 7"/>
          <p:cNvSpPr/>
          <p:nvPr/>
        </p:nvSpPr>
        <p:spPr>
          <a:xfrm>
            <a:off x="2999880" y="2442240"/>
            <a:ext cx="9839520" cy="8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6800"/>
              </a:lnSpc>
              <a:buNone/>
            </a:pPr>
            <a:r>
              <a:rPr b="1" lang="en-US" sz="8500" spc="-1" strike="noStrike">
                <a:solidFill>
                  <a:srgbClr val="14274e"/>
                </a:solidFill>
                <a:latin typeface="Proxima Nova Heavy"/>
                <a:ea typeface="Proxima Nova Heavy"/>
              </a:rPr>
              <a:t>Conclusion</a:t>
            </a:r>
            <a:endParaRPr b="0" lang="en-US" sz="8500" spc="-1" strike="noStrike"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2999880" y="3474360"/>
            <a:ext cx="12431160" cy="48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AI Resume Builder provides a simple and efficient resume creation process.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The project demonstrates full stack development and AI integration.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Users can quickly create ATS-friendly resumes.</a:t>
            </a:r>
            <a:endParaRPr b="0" lang="en-US" sz="3400" spc="-1" strike="noStrike">
              <a:latin typeface="Arial"/>
            </a:endParaRPr>
          </a:p>
          <a:p>
            <a:pPr lvl="1" marL="734040" indent="-367200">
              <a:lnSpc>
                <a:spcPts val="4759"/>
              </a:lnSpc>
              <a:buClr>
                <a:srgbClr val="14274e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14274e"/>
                </a:solidFill>
                <a:latin typeface="Clear Sans"/>
                <a:ea typeface="Clear Sans"/>
              </a:rPr>
              <a:t>The project improved practical knowledge of React, backend APIs, databases, and AI tools.</a:t>
            </a:r>
            <a:endParaRPr b="0" lang="en-US" sz="3400" spc="-1" strike="noStrike">
              <a:latin typeface="Arial"/>
            </a:endParaRPr>
          </a:p>
          <a:p>
            <a:pPr>
              <a:lnSpc>
                <a:spcPts val="4759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Freeform 2"/>
          <p:cNvSpPr/>
          <p:nvPr/>
        </p:nvSpPr>
        <p:spPr>
          <a:xfrm flipV="1">
            <a:off x="0" y="-57960"/>
            <a:ext cx="6229080" cy="6229080"/>
          </a:xfrm>
          <a:custGeom>
            <a:avLst/>
            <a:gdLst/>
            <a:ahLst/>
            <a:rect l="l" t="t" r="r" b="b"/>
            <a:pathLst>
              <a:path w="6229350" h="6229350">
                <a:moveTo>
                  <a:pt x="0" y="6229350"/>
                </a:moveTo>
                <a:lnTo>
                  <a:pt x="6229350" y="6229350"/>
                </a:lnTo>
                <a:lnTo>
                  <a:pt x="6229350" y="0"/>
                </a:lnTo>
                <a:lnTo>
                  <a:pt x="0" y="0"/>
                </a:lnTo>
                <a:lnTo>
                  <a:pt x="0" y="622935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Box 3"/>
          <p:cNvSpPr/>
          <p:nvPr/>
        </p:nvSpPr>
        <p:spPr>
          <a:xfrm>
            <a:off x="3485880" y="3818160"/>
            <a:ext cx="11315880" cy="32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12770"/>
              </a:lnSpc>
              <a:buNone/>
            </a:pPr>
            <a:r>
              <a:rPr b="1" lang="en-US" sz="15960" spc="-1" strike="noStrike">
                <a:solidFill>
                  <a:srgbClr val="f1f6f9"/>
                </a:solidFill>
                <a:latin typeface="Proxima Nova Heavy"/>
                <a:ea typeface="Proxima Nova Heavy"/>
              </a:rPr>
              <a:t>THANK YOU</a:t>
            </a:r>
            <a:endParaRPr b="0" lang="en-US" sz="15960" spc="-1" strike="noStrike">
              <a:latin typeface="Arial"/>
            </a:endParaRPr>
          </a:p>
        </p:txBody>
      </p:sp>
      <p:sp>
        <p:nvSpPr>
          <p:cNvPr id="163" name="Freeform 4"/>
          <p:cNvSpPr/>
          <p:nvPr/>
        </p:nvSpPr>
        <p:spPr>
          <a:xfrm>
            <a:off x="0" y="6172200"/>
            <a:ext cx="4847760" cy="4114440"/>
          </a:xfrm>
          <a:custGeom>
            <a:avLst/>
            <a:gdLst/>
            <a:ahLst/>
            <a:rect l="l" t="t" r="r" b="b"/>
            <a:pathLst>
              <a:path w="4848071" h="4114800">
                <a:moveTo>
                  <a:pt x="0" y="0"/>
                </a:moveTo>
                <a:lnTo>
                  <a:pt x="4848071" y="0"/>
                </a:lnTo>
                <a:lnTo>
                  <a:pt x="484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Freeform 5"/>
          <p:cNvSpPr/>
          <p:nvPr/>
        </p:nvSpPr>
        <p:spPr>
          <a:xfrm flipH="1" flipV="1">
            <a:off x="13439880" y="-360"/>
            <a:ext cx="4847760" cy="4114440"/>
          </a:xfrm>
          <a:custGeom>
            <a:avLst/>
            <a:gdLst/>
            <a:ahLst/>
            <a:rect l="l" t="t" r="r" b="b"/>
            <a:pathLst>
              <a:path w="4848071" h="4114800">
                <a:moveTo>
                  <a:pt x="484807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848071" y="0"/>
                </a:lnTo>
                <a:lnTo>
                  <a:pt x="4848071" y="4114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Freeform 6"/>
          <p:cNvSpPr/>
          <p:nvPr/>
        </p:nvSpPr>
        <p:spPr>
          <a:xfrm flipH="1">
            <a:off x="12057840" y="4143240"/>
            <a:ext cx="6229080" cy="6229080"/>
          </a:xfrm>
          <a:custGeom>
            <a:avLst/>
            <a:gdLst/>
            <a:ahLst/>
            <a:rect l="l" t="t" r="r" b="b"/>
            <a:pathLst>
              <a:path w="6229350" h="6229350">
                <a:moveTo>
                  <a:pt x="6229350" y="0"/>
                </a:moveTo>
                <a:lnTo>
                  <a:pt x="0" y="0"/>
                </a:lnTo>
                <a:lnTo>
                  <a:pt x="0" y="6229350"/>
                </a:lnTo>
                <a:lnTo>
                  <a:pt x="6229350" y="6229350"/>
                </a:lnTo>
                <a:lnTo>
                  <a:pt x="62293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Box 7"/>
          <p:cNvSpPr/>
          <p:nvPr/>
        </p:nvSpPr>
        <p:spPr>
          <a:xfrm>
            <a:off x="6029640" y="7191360"/>
            <a:ext cx="622872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f1f6f9"/>
                </a:solidFill>
                <a:latin typeface="Clear Sans"/>
                <a:ea typeface="Clear Sans"/>
              </a:rPr>
              <a:t>Prepared by - Dipali Brahmbhatt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DAG8ZWOXe3Q</dc:identifier>
  <dc:language>en-US</dc:language>
  <cp:lastModifiedBy/>
  <dcterms:modified xsi:type="dcterms:W3CDTF">2026-04-25T16:56:51Z</dcterms:modified>
  <cp:revision>2</cp:revision>
  <dc:subject/>
  <dc:title>AI Resume Builder -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